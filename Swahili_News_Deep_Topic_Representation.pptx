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58" autoAdjust="0"/>
    <p:restoredTop sz="92653" autoAdjust="0"/>
  </p:normalViewPr>
  <p:slideViewPr>
    <p:cSldViewPr snapToGrid="0" snapToObjects="1">
      <p:cViewPr varScale="1">
        <p:scale>
          <a:sx n="58" d="100"/>
          <a:sy n="58" d="100"/>
        </p:scale>
        <p:origin x="9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671" y="147621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Deep Topic Representation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4341" y="1393257"/>
            <a:ext cx="6400800" cy="1752600"/>
          </a:xfrm>
        </p:spPr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rPr dirty="0"/>
              <a:t>Autoencoder / Transformer Embeddings</a:t>
            </a:r>
          </a:p>
          <a:p>
            <a:r>
              <a:rPr b="1" dirty="0">
                <a:solidFill>
                  <a:schemeClr val="accent2"/>
                </a:solidFill>
              </a:rPr>
              <a:t>Swahili News Articles Analysis</a:t>
            </a:r>
          </a:p>
          <a:p>
            <a:r>
              <a:rPr b="1" dirty="0">
                <a:solidFill>
                  <a:schemeClr val="accent2"/>
                </a:solidFill>
              </a:rPr>
              <a:t>Group 1 Project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B19CDE3-F797-4E50-A99B-0392BA83F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823080"/>
              </p:ext>
            </p:extLst>
          </p:nvPr>
        </p:nvGraphicFramePr>
        <p:xfrm>
          <a:off x="636814" y="3979713"/>
          <a:ext cx="627076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762">
                  <a:extLst>
                    <a:ext uri="{9D8B030D-6E8A-4147-A177-3AD203B41FA5}">
                      <a16:colId xmlns:a16="http://schemas.microsoft.com/office/drawing/2014/main" val="301165917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GROUP 1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77945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ARINEITWE THOMAS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82324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MUGASHA BLAISE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04479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NAMUSOKE OLIVIA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18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E3DF-CC54-46FF-AF19-C70A04B2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Swahili News Articles Dataset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3146B-2FC9-4AFC-ACEC-148D8BF42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3514"/>
            <a:ext cx="8229600" cy="5222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Bookman Old Style" panose="02050604050505020204" pitchFamily="18" charset="0"/>
              </a:rPr>
              <a:t>News articles written in Swahili.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BBC Swahili,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A Hugging Face Swahili News Dataset </a:t>
            </a:r>
            <a:r>
              <a:rPr lang="en-US" altLang="en-UG" sz="2600" dirty="0" err="1">
                <a:latin typeface="Bookman Old Style" panose="02050604050505020204" pitchFamily="18" charset="0"/>
              </a:rPr>
              <a:t>eg</a:t>
            </a:r>
            <a:r>
              <a:rPr kumimoji="0" lang="en-UG" altLang="en-UG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news classification or topic prediction datasets.</a:t>
            </a:r>
            <a:endParaRPr kumimoji="0" lang="en-US" altLang="en-UG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Bookman Old Style" panose="02050604050505020204" pitchFamily="18" charset="0"/>
              </a:rPr>
              <a:t>Purpose of using this dataset</a:t>
            </a:r>
          </a:p>
          <a:p>
            <a:r>
              <a:rPr lang="en-US" sz="2600" dirty="0">
                <a:latin typeface="Bookman Old Style" panose="02050604050505020204" pitchFamily="18" charset="0"/>
              </a:rPr>
              <a:t>It is mainly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Topic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Text representation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Natural Language Processing research for low-resource languages (e.g., Swahili)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Embedding and clustering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G" altLang="en-UG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62872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4448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9086"/>
            <a:ext cx="8229600" cy="5486400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Project</a:t>
            </a:r>
            <a:r>
              <a:rPr dirty="0">
                <a:latin typeface="Bookman Old Style" panose="02050604050505020204" pitchFamily="18" charset="0"/>
              </a:rPr>
              <a:t>: Deep Topic Representation using Autoencoder and Transformer Embeddings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Objectives: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1. Perform EDA on Swahili news dataset (22,207 articles)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2. Generate sentence embeddings using multilingual Sentence-BERT (384-dim)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3. Train deep autoencoders to compress to 2D/3D latent spaces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4. Analyze reconstruction loss and feature compression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5. Visualize latent clusters using PCA, t-SNE, UMAP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6. Experiment with encoder depths and activation functions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7. Implement Neural Topic Model (</a:t>
            </a:r>
            <a:r>
              <a:rPr dirty="0" err="1">
                <a:latin typeface="Bookman Old Style" panose="02050604050505020204" pitchFamily="18" charset="0"/>
              </a:rPr>
              <a:t>BERTopic</a:t>
            </a:r>
            <a:r>
              <a:rPr dirty="0">
                <a:latin typeface="Bookman Old Style" panose="02050604050505020204" pitchFamily="18" charset="0"/>
              </a:rPr>
              <a:t>) - discovered 162 topics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8. Explore multilingual semantic clustering capabilities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Expected Outcomes</a:t>
            </a:r>
            <a:r>
              <a:rPr dirty="0">
                <a:latin typeface="Bookman Old Style" panose="02050604050505020204" pitchFamily="18" charset="0"/>
              </a:rPr>
              <a:t>: Compressed latent representations preserving semantic relationships, distinct topic clusters, interpretable topic-word distributions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247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3446"/>
            <a:ext cx="8229600" cy="5402717"/>
          </a:xfrm>
        </p:spPr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sz="2100" b="1" dirty="0">
                <a:latin typeface="Bookman Old Style" panose="02050604050505020204" pitchFamily="18" charset="0"/>
              </a:rPr>
              <a:t>Dataset: Swahili News Articles from Hugging Face</a:t>
            </a:r>
          </a:p>
          <a:p>
            <a:pPr marL="0" indent="0" algn="ctr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sz="2100" b="1" dirty="0">
                <a:latin typeface="Bookman Old Style" panose="02050604050505020204" pitchFamily="18" charset="0"/>
              </a:rPr>
              <a:t>Statistics: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Training Set: 22,207 articles with text and topic labels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Test Set: 7,338 articles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Total: 29,545 articles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Language: Swahili (Bantu language, 200+ million speakers)</a:t>
            </a:r>
          </a:p>
          <a:p>
            <a:pPr marL="0" indent="0" algn="ctr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sz="2100" b="1" dirty="0">
                <a:latin typeface="Bookman Old Style" panose="02050604050505020204" pitchFamily="18" charset="0"/>
              </a:rPr>
              <a:t>Characteristics: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Clean, well-formatted news articles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Diverse topics: politics, sports, health, tourism, etc.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Article lengths: 500-3000 characters (typical news format)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2100" dirty="0">
                <a:latin typeface="Bookman Old Style" panose="02050604050505020204" pitchFamily="18" charset="0"/>
              </a:rPr>
              <a:t> Each article has 'text' and 'label' features</a:t>
            </a:r>
          </a:p>
          <a:p>
            <a:pPr marL="0" indent="0">
              <a:buNone/>
            </a:pPr>
            <a:r>
              <a:rPr sz="2100" b="1" dirty="0">
                <a:latin typeface="Bookman Old Style" panose="02050604050505020204" pitchFamily="18" charset="0"/>
              </a:rPr>
              <a:t>Purpose</a:t>
            </a:r>
            <a:r>
              <a:rPr sz="2100" dirty="0">
                <a:latin typeface="Bookman Old Style" panose="02050604050505020204" pitchFamily="18" charset="0"/>
              </a:rPr>
              <a:t>: </a:t>
            </a:r>
            <a:r>
              <a:rPr lang="en-US" sz="2100" dirty="0">
                <a:latin typeface="Bookman Old Style" panose="02050604050505020204" pitchFamily="18" charset="0"/>
              </a:rPr>
              <a:t>The goal of this assignment/tutorial is to: Build a deep-learning-based topic representation system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dirty="0"/>
              <a:t>2.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40429"/>
          </a:xfrm>
        </p:spPr>
        <p:txBody>
          <a:bodyPr/>
          <a:lstStyle/>
          <a:p>
            <a:pPr algn="just"/>
            <a:r>
              <a:rPr lang="en-US" sz="1800" b="0" dirty="0">
                <a:effectLst/>
                <a:latin typeface="Bookman Old Style" panose="02050604050505020204" pitchFamily="18" charset="0"/>
              </a:rPr>
              <a:t>Perform exploratory data analysis on the Swahili news articles, including identifying most common terms, generating word frequency plots, and analyzing text length distribution.</a:t>
            </a:r>
          </a:p>
          <a:p>
            <a:pPr marL="0" indent="0" algn="just">
              <a:buNone/>
            </a:pPr>
            <a:endParaRPr lang="en-US" sz="1800" b="0" dirty="0">
              <a:effectLst/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29DC4-90C9-4A90-933E-48D7B81F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95446"/>
            <a:ext cx="5939316" cy="144559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45D7B0-0A82-437F-9203-57EE2B98DFFB}"/>
              </a:ext>
            </a:extLst>
          </p:cNvPr>
          <p:cNvSpPr txBox="1">
            <a:spLocks/>
          </p:cNvSpPr>
          <p:nvPr/>
        </p:nvSpPr>
        <p:spPr>
          <a:xfrm>
            <a:off x="457200" y="4226378"/>
            <a:ext cx="6781800" cy="2062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 sz="4400" b="1">
                <a:solidFill>
                  <a:srgbClr val="1F4E79"/>
                </a:solidFill>
              </a:defRPr>
            </a:pPr>
            <a:endParaRPr lang="en-US" sz="1600" b="1" dirty="0">
              <a:solidFill>
                <a:srgbClr val="1F4E7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60699-3AB3-45C0-AA31-C332FA34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62" y="4631415"/>
            <a:ext cx="6134956" cy="809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8813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Article Length Distribution</a:t>
            </a:r>
          </a:p>
        </p:txBody>
      </p:sp>
      <p:pic>
        <p:nvPicPr>
          <p:cNvPr id="4" name="Picture 3" descr="01_article_leng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Distribution of article lengths across 22,207 training articles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Top 30 Most Common Words</a:t>
            </a:r>
          </a:p>
        </p:txBody>
      </p:sp>
      <p:pic>
        <p:nvPicPr>
          <p:cNvPr id="4" name="Picture 3" descr="02_word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Most frequent words: 'ya' (369,999), 'na' (364,521), 'wa' (277,645) - Total tokens: 7,458,118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126"/>
            <a:ext cx="8229600" cy="606711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dirty="0"/>
              <a:t>3. 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69" y="756625"/>
            <a:ext cx="8229600" cy="5133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Convert each article into a </a:t>
            </a:r>
            <a:r>
              <a:rPr lang="en-US" sz="2000" b="1" dirty="0"/>
              <a:t>numerical vector</a:t>
            </a:r>
            <a:r>
              <a:rPr lang="en-US" sz="200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28F51-2767-41B4-8E9D-C8C4A54D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69" y="1066337"/>
            <a:ext cx="5541485" cy="3140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44E60-1C1F-4FB9-BDC4-84A342B22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968" y="4206859"/>
            <a:ext cx="5408850" cy="16605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dirty="0"/>
              <a:t>4. Sentence Embedding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5134"/>
            <a:ext cx="8229600" cy="5271030"/>
          </a:xfrm>
        </p:spPr>
        <p:txBody>
          <a:bodyPr>
            <a:normAutofit/>
          </a:bodyPr>
          <a:lstStyle/>
          <a:p>
            <a:r>
              <a:rPr lang="en-US" sz="1800" dirty="0"/>
              <a:t>Convert cleaned Swahili news articles into numerical vector representations using </a:t>
            </a:r>
            <a:r>
              <a:rPr lang="en-US" sz="1800" b="1" dirty="0"/>
              <a:t>Sentence-BERT</a:t>
            </a:r>
            <a:r>
              <a:rPr lang="en-US" sz="1800" dirty="0"/>
              <a:t> for deep topic modeling.</a:t>
            </a:r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C8A23-09B4-4AB5-BDF5-519B7C52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7" y="1564061"/>
            <a:ext cx="7399867" cy="1798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45481E-9206-458E-A792-3FA658A7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884" y="3423482"/>
            <a:ext cx="5553850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08505"/>
            <a:ext cx="8229600" cy="394229"/>
          </a:xfrm>
        </p:spPr>
        <p:txBody>
          <a:bodyPr>
            <a:no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sz="2800" dirty="0"/>
              <a:t>5. Deep Autoencoder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2706"/>
            <a:ext cx="8229600" cy="100382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Bookman Old Style" panose="02050604050505020204" pitchFamily="18" charset="0"/>
              </a:rPr>
              <a:t>Build a deep autoencoder to compress the 384-dimensional embeddings into a </a:t>
            </a:r>
            <a:r>
              <a:rPr lang="en-US" sz="1800" b="1" dirty="0">
                <a:latin typeface="Bookman Old Style" panose="02050604050505020204" pitchFamily="18" charset="0"/>
              </a:rPr>
              <a:t>3-dimensional latent space</a:t>
            </a:r>
            <a:r>
              <a:rPr lang="en-US" sz="1800" dirty="0">
                <a:latin typeface="Bookman Old Style" panose="02050604050505020204" pitchFamily="18" charset="0"/>
              </a:rPr>
              <a:t> for topic visualization and clustering.</a:t>
            </a:r>
            <a:endParaRPr sz="1800" dirty="0">
              <a:latin typeface="Bookman Old Style" panose="020506040505050202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587B4B0-E835-4032-A4DD-BA4EFAF8A09A}"/>
              </a:ext>
            </a:extLst>
          </p:cNvPr>
          <p:cNvGrpSpPr/>
          <p:nvPr/>
        </p:nvGrpSpPr>
        <p:grpSpPr>
          <a:xfrm>
            <a:off x="203200" y="1803400"/>
            <a:ext cx="4673600" cy="3912112"/>
            <a:chOff x="203200" y="1803400"/>
            <a:chExt cx="4673600" cy="39121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C5E835-94F3-4CA7-B7BD-7C5BCB976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200" y="1803400"/>
              <a:ext cx="4673600" cy="249609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5EB77F-2669-4D8E-BA3C-7DE24AE55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200" y="4299492"/>
              <a:ext cx="4673600" cy="1416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"/>
            <a:ext cx="8229600" cy="512762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Autoencoder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CB4C0-FC20-4374-BD82-48B0F60EF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9324" y="4002360"/>
            <a:ext cx="6163535" cy="26864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4018C-6050-425E-9159-3E58C3B6B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1335870"/>
            <a:ext cx="7543700" cy="25329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7FA59D-3DF9-4BA4-9853-6E3CF38582C2}"/>
              </a:ext>
            </a:extLst>
          </p:cNvPr>
          <p:cNvSpPr txBox="1"/>
          <p:nvPr/>
        </p:nvSpPr>
        <p:spPr>
          <a:xfrm>
            <a:off x="186267" y="556021"/>
            <a:ext cx="8601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 the Autoencoder to learn a compressed 3-dimensional representation of Swahili news embeddings.</a:t>
            </a:r>
            <a:endParaRPr lang="en-U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Reconstruction Loss Over Training</a:t>
            </a:r>
          </a:p>
        </p:txBody>
      </p:sp>
      <p:pic>
        <p:nvPicPr>
          <p:cNvPr id="4" name="Picture 3" descr="03_reconstructio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MSE loss decreases from 0.0372 to 0.0187 over 50 epochs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3D Latent Space Visualization</a:t>
            </a:r>
          </a:p>
        </p:txBody>
      </p:sp>
      <p:pic>
        <p:nvPicPr>
          <p:cNvPr id="4" name="Picture 3" descr="04_3d_latent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3D visualization showing distinct topic clusters - each color represents a topic label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Latent Space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5899"/>
            <a:ext cx="4865570" cy="5091766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sz="1500" b="1" dirty="0">
                <a:latin typeface="Bookman Old Style" panose="02050604050505020204" pitchFamily="18" charset="0"/>
              </a:rPr>
              <a:t>Compression Achievement: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Input: 384-dimensional embeddings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Latent: 3D compressed representation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Compression Ratio: 128:1 (384/3)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Output Shape: (22207, 3) latent representations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sz="1500" b="1" dirty="0">
                <a:latin typeface="Bookman Old Style" panose="02050604050505020204" pitchFamily="18" charset="0"/>
              </a:rPr>
              <a:t>Visualization Insights: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Distinct clusters visible for different topic labels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Spatial proximity indicates semantic similarity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Clear separation between topic regions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sz="1500" dirty="0">
                <a:latin typeface="Bookman Old Style" panose="02050604050505020204" pitchFamily="18" charset="0"/>
              </a:rPr>
              <a:t> Semantic relationships preserved despite compression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D5FA40-E974-4491-9F4F-8B8C25BB0F4D}"/>
              </a:ext>
            </a:extLst>
          </p:cNvPr>
          <p:cNvSpPr txBox="1">
            <a:spLocks/>
          </p:cNvSpPr>
          <p:nvPr/>
        </p:nvSpPr>
        <p:spPr>
          <a:xfrm>
            <a:off x="5239351" y="967337"/>
            <a:ext cx="3625516" cy="347953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Bookman Old Style" panose="02050604050505020204" pitchFamily="18" charset="0"/>
              </a:rPr>
              <a:t>Key Observations</a:t>
            </a:r>
            <a:r>
              <a:rPr lang="en-US" sz="1600" dirty="0">
                <a:latin typeface="Bookman Old Style" panose="02050604050505020204" pitchFamily="18" charset="0"/>
              </a:rPr>
              <a:t>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sz="1600" dirty="0">
                <a:latin typeface="Bookman Old Style" panose="02050604050505020204" pitchFamily="18" charset="0"/>
              </a:rPr>
              <a:t> Articles with similar topics cluster together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sz="1600" dirty="0">
                <a:latin typeface="Bookman Old Style" panose="02050604050505020204" pitchFamily="18" charset="0"/>
              </a:rPr>
              <a:t> Topic boundaries are visible in 3D space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sz="1600" dirty="0">
                <a:latin typeface="Bookman Old Style" panose="02050604050505020204" pitchFamily="18" charset="0"/>
              </a:rPr>
              <a:t> Latent space captures meaningful document representations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3509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Experimental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5541"/>
            <a:ext cx="8229600" cy="540249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Experiment 1: Latent Dimensions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3D Autoencoder: 3-layer encoder, </a:t>
            </a:r>
            <a:r>
              <a:rPr dirty="0" err="1">
                <a:latin typeface="Bookman Old Style" panose="02050604050505020204" pitchFamily="18" charset="0"/>
              </a:rPr>
              <a:t>ReLU</a:t>
            </a:r>
            <a:r>
              <a:rPr dirty="0">
                <a:latin typeface="Bookman Old Style" panose="02050604050505020204" pitchFamily="18" charset="0"/>
              </a:rPr>
              <a:t> activation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2D Autoencoder: 2-layer encoder, </a:t>
            </a:r>
            <a:r>
              <a:rPr dirty="0" err="1">
                <a:latin typeface="Bookman Old Style" panose="02050604050505020204" pitchFamily="18" charset="0"/>
              </a:rPr>
              <a:t>LeakyReLU</a:t>
            </a:r>
            <a:r>
              <a:rPr dirty="0">
                <a:latin typeface="Bookman Old Style" panose="02050604050505020204" pitchFamily="18" charset="0"/>
              </a:rPr>
              <a:t> activation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Experiment 2: Activation Functions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Standard </a:t>
            </a:r>
            <a:r>
              <a:rPr dirty="0" err="1">
                <a:latin typeface="Bookman Old Style" panose="02050604050505020204" pitchFamily="18" charset="0"/>
              </a:rPr>
              <a:t>ReLU</a:t>
            </a:r>
            <a:r>
              <a:rPr dirty="0">
                <a:latin typeface="Bookman Old Style" panose="02050604050505020204" pitchFamily="18" charset="0"/>
              </a:rPr>
              <a:t> vs </a:t>
            </a:r>
            <a:r>
              <a:rPr dirty="0" err="1">
                <a:latin typeface="Bookman Old Style" panose="02050604050505020204" pitchFamily="18" charset="0"/>
              </a:rPr>
              <a:t>LeakyReLU</a:t>
            </a:r>
            <a:endParaRPr dirty="0">
              <a:latin typeface="Bookman Old Style" panose="02050604050505020204" pitchFamily="18" charset="0"/>
            </a:endParaRP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Experiment 3: Encoder Depth</a:t>
            </a:r>
          </a:p>
          <a:p>
            <a:pPr marL="0" indent="0" algn="ctr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>
                <a:latin typeface="Bookman Old Style" panose="02050604050505020204" pitchFamily="18" charset="0"/>
              </a:rPr>
              <a:t> 3-layer encoder vs 2-layer encoder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Performance Comparison: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3D Autoencoder: Final loss 0.0187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2D Autoencoder: Final loss 0.0190 (difference: 0.0003)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Both architectures preserve topic structure effectively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>
                <a:latin typeface="Bookman Old Style" panose="02050604050505020204" pitchFamily="18" charset="0"/>
              </a:rPr>
              <a:t> Minimal performance difference between approaches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2D Latent Space (LeakyReLU)</a:t>
            </a:r>
          </a:p>
        </p:txBody>
      </p:sp>
      <p:pic>
        <p:nvPicPr>
          <p:cNvPr id="4" name="Picture 3" descr="05_2d_latent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2D compression using LeakyReLU activation 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4023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Architecture Comparison</a:t>
            </a:r>
          </a:p>
        </p:txBody>
      </p:sp>
      <p:pic>
        <p:nvPicPr>
          <p:cNvPr id="4" name="Picture 3" descr="06_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1709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Comparison of reconstruction losses: 3D (ReLU) vs 2D (LeakyReLU) autoencoders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11461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PCA Visualization of Latent Space</a:t>
            </a:r>
          </a:p>
        </p:txBody>
      </p:sp>
      <p:pic>
        <p:nvPicPr>
          <p:cNvPr id="4" name="Picture 3" descr="08_pca_l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2D PCA projection of the 3D latent space for alternative visualization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7. Neural Topic Model (BERTopic)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9EAE2D-165F-4B3E-9C27-276DFF25E6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0771" y="1749232"/>
            <a:ext cx="666604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 NTM (e.g., via VAE-based topic models)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topic–word distributions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results with autoencoder clusters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43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 err="1"/>
              <a:t>BERTopic</a:t>
            </a:r>
            <a:r>
              <a:rPr dirty="0"/>
              <a:t> Implementation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451" y="794402"/>
            <a:ext cx="2719137" cy="5625650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endParaRPr dirty="0"/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Methodology: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1. Pre-computed sentence embeddings (multilingual Sentence-BERT)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2. UMAP: Dimensionality reduction (</a:t>
            </a:r>
            <a:r>
              <a:rPr dirty="0" err="1"/>
              <a:t>n_components</a:t>
            </a:r>
            <a:r>
              <a:rPr dirty="0"/>
              <a:t>=5)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3. HDBSCAN: Density-based clustering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4. c-TF-IDF: Topic-word distribution extraction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Results: Discovered 162 distinct topics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BBF6F4-BF5B-4FB4-85EF-99F1D60CBCCF}"/>
              </a:ext>
            </a:extLst>
          </p:cNvPr>
          <p:cNvSpPr txBox="1">
            <a:spLocks/>
          </p:cNvSpPr>
          <p:nvPr/>
        </p:nvSpPr>
        <p:spPr>
          <a:xfrm>
            <a:off x="4960219" y="794402"/>
            <a:ext cx="2719137" cy="562565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Top Topics: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 Topic 0: Government projects &amp; infrastructure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dirty="0"/>
              <a:t>  Keywords: </a:t>
            </a:r>
            <a:r>
              <a:rPr lang="en-US" dirty="0" err="1"/>
              <a:t>mradi</a:t>
            </a:r>
            <a:r>
              <a:rPr lang="en-US" dirty="0"/>
              <a:t>, </a:t>
            </a:r>
            <a:r>
              <a:rPr lang="en-US" dirty="0" err="1"/>
              <a:t>serikali</a:t>
            </a:r>
            <a:r>
              <a:rPr lang="en-US" dirty="0"/>
              <a:t>, </a:t>
            </a:r>
            <a:r>
              <a:rPr lang="en-US" dirty="0" err="1"/>
              <a:t>umeme</a:t>
            </a:r>
            <a:r>
              <a:rPr lang="en-US" dirty="0"/>
              <a:t>, </a:t>
            </a:r>
            <a:r>
              <a:rPr lang="en-US" dirty="0" err="1"/>
              <a:t>fedha</a:t>
            </a:r>
            <a:r>
              <a:rPr lang="en-US" dirty="0"/>
              <a:t>, </a:t>
            </a:r>
            <a:r>
              <a:rPr lang="en-US" dirty="0" err="1"/>
              <a:t>miradi</a:t>
            </a:r>
            <a:endParaRPr lang="en-US" dirty="0"/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 Topic 1: Sports (Manchester United)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dirty="0"/>
              <a:t>  Keywords: </a:t>
            </a:r>
            <a:r>
              <a:rPr lang="en-US" dirty="0" err="1"/>
              <a:t>klabu</a:t>
            </a:r>
            <a:r>
              <a:rPr lang="en-US" dirty="0"/>
              <a:t>, </a:t>
            </a:r>
            <a:r>
              <a:rPr lang="en-US" dirty="0" err="1"/>
              <a:t>manchester</a:t>
            </a:r>
            <a:r>
              <a:rPr lang="en-US" dirty="0"/>
              <a:t>, </a:t>
            </a:r>
            <a:r>
              <a:rPr lang="en-US" dirty="0" err="1"/>
              <a:t>mchezaji</a:t>
            </a:r>
            <a:r>
              <a:rPr lang="en-US" dirty="0"/>
              <a:t>, united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 Topic 2: General Sports (Local teams)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dirty="0"/>
              <a:t>  Keywords: </a:t>
            </a:r>
            <a:r>
              <a:rPr lang="en-US" dirty="0" err="1"/>
              <a:t>timu</a:t>
            </a:r>
            <a:r>
              <a:rPr lang="en-US" dirty="0"/>
              <a:t>, </a:t>
            </a:r>
            <a:r>
              <a:rPr lang="en-US" dirty="0" err="1"/>
              <a:t>mchezo</a:t>
            </a:r>
            <a:r>
              <a:rPr lang="en-US" dirty="0"/>
              <a:t>, </a:t>
            </a:r>
            <a:r>
              <a:rPr lang="en-US" dirty="0" err="1"/>
              <a:t>yanga</a:t>
            </a:r>
            <a:r>
              <a:rPr lang="en-US" dirty="0"/>
              <a:t>, </a:t>
            </a:r>
            <a:r>
              <a:rPr lang="en-US" dirty="0" err="1"/>
              <a:t>simba</a:t>
            </a:r>
            <a:r>
              <a:rPr lang="en-US" dirty="0"/>
              <a:t>, </a:t>
            </a:r>
            <a:r>
              <a:rPr lang="en-US" dirty="0" err="1"/>
              <a:t>ligi</a:t>
            </a:r>
            <a:endParaRPr lang="en-US" dirty="0"/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 Topic 3: Health &amp; Disease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lang="en-US" dirty="0"/>
              <a:t>  Keywords: </a:t>
            </a:r>
            <a:r>
              <a:rPr lang="en-US" dirty="0" err="1"/>
              <a:t>wagonjwa</a:t>
            </a:r>
            <a:r>
              <a:rPr lang="en-US" dirty="0"/>
              <a:t>, </a:t>
            </a:r>
            <a:r>
              <a:rPr lang="en-US" dirty="0" err="1"/>
              <a:t>hospitali</a:t>
            </a:r>
            <a:r>
              <a:rPr lang="en-US" dirty="0"/>
              <a:t>, </a:t>
            </a:r>
            <a:r>
              <a:rPr lang="en-US" dirty="0" err="1"/>
              <a:t>ugonjwa</a:t>
            </a:r>
            <a:r>
              <a:rPr lang="en-US" dirty="0"/>
              <a:t>, corona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dirty="0"/>
              <a:t>C</a:t>
            </a:r>
            <a:r>
              <a:rPr lang="en-US" b="1" dirty="0"/>
              <a:t>omparison</a:t>
            </a:r>
            <a:r>
              <a:rPr lang="en-US" dirty="0"/>
              <a:t>: </a:t>
            </a:r>
            <a:r>
              <a:rPr lang="en-US" dirty="0" err="1"/>
              <a:t>BERTopic</a:t>
            </a:r>
            <a:r>
              <a:rPr lang="en-US" dirty="0"/>
              <a:t> provides interpretable topic-word distributions, autoencoder provides visualizable latent spaces - both methods complement each other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8. Multilingual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48288"/>
          </a:xfrm>
        </p:spPr>
        <p:txBody>
          <a:bodyPr/>
          <a:lstStyle/>
          <a:p>
            <a:r>
              <a:rPr lang="en-US" dirty="0" err="1"/>
              <a:t>BERTopic</a:t>
            </a:r>
            <a:r>
              <a:rPr lang="en-US" dirty="0"/>
              <a:t> and all its supporting libraries (HDBSCAN, UMAP, </a:t>
            </a:r>
            <a:r>
              <a:rPr lang="en-US" dirty="0" err="1"/>
              <a:t>Plotly</a:t>
            </a:r>
            <a:r>
              <a:rPr lang="en-US" dirty="0"/>
              <a:t>, etc.) were successfully installed, enabling advanced topic modeling and visualization.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8813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Multilingual Embeddings Visualization</a:t>
            </a:r>
          </a:p>
        </p:txBody>
      </p:sp>
      <p:pic>
        <p:nvPicPr>
          <p:cNvPr id="4" name="Picture 3" descr="07_multilingual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472C4"/>
                </a:solidFill>
              </a:defRPr>
            </a:pPr>
            <a:r>
              <a:t>PCA projection showing semantic clustering across languages (Swahili &amp; English)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Multilingual 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504289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Objective</a:t>
            </a:r>
            <a:r>
              <a:rPr dirty="0"/>
              <a:t>: Assess language-invariant semantic clusters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Method: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5 Swahili sentences + 5 English sentences (semantically equivalent)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Generate embeddings using multilingual Sentence-BERT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Apply PCA for 2D visualization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K</a:t>
            </a:r>
            <a:r>
              <a:rPr b="1" dirty="0"/>
              <a:t>ey Findings: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Multilingual model captures semantic similarity across languages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Language-invariant features emerge in embedding space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Semantically similar sentences cluster together regardless of language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Language barrier significantly reduced in embedding space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Examples: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'Good morning' ≈ 'Habari za </a:t>
            </a:r>
            <a:r>
              <a:rPr dirty="0" err="1"/>
              <a:t>asubuhi</a:t>
            </a:r>
            <a:r>
              <a:rPr dirty="0"/>
              <a:t>' - should cluster together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'I love coffee' ≈ '</a:t>
            </a:r>
            <a:r>
              <a:rPr dirty="0" err="1"/>
              <a:t>Ninapenda</a:t>
            </a:r>
            <a:r>
              <a:rPr dirty="0"/>
              <a:t> </a:t>
            </a:r>
            <a:r>
              <a:rPr dirty="0" err="1"/>
              <a:t>kahawa</a:t>
            </a:r>
            <a:r>
              <a:rPr dirty="0"/>
              <a:t>' - semantic similarity preserved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Implication: Model effectively handles multilingual datasets for topic modeling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25"/>
            <a:ext cx="8229600" cy="803391"/>
          </a:xfrm>
        </p:spPr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Achievements &amp; Technical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577" y="628048"/>
            <a:ext cx="8229600" cy="5503245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Achievements: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Processed 22,207 Swahili news articles with comprehensive EDA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Generated 384-dim embeddings using multilingual Sentence-BERT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Compressed to 2D/3D latent space (128:1 compression) with 0.0187 loss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Discovered 162 distinct topics using </a:t>
            </a:r>
            <a:r>
              <a:rPr dirty="0" err="1"/>
              <a:t>BERTopic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Visualized topic clusters using PCA, 3D scatter plots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Explored multilingual semantic clustering capabilities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T</a:t>
            </a:r>
            <a:r>
              <a:rPr b="1" dirty="0"/>
              <a:t>echnical Insights: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Autoencoder reconstruction loss: 0.0187 (3D), 0.0190 (2D)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Latent space preserves topic structure and semantic relationships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</a:t>
            </a:r>
            <a:r>
              <a:rPr dirty="0" err="1"/>
              <a:t>LeakyReLU</a:t>
            </a:r>
            <a:r>
              <a:rPr dirty="0"/>
              <a:t> provides comparable performance to </a:t>
            </a:r>
            <a:r>
              <a:rPr dirty="0" err="1"/>
              <a:t>ReLU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Both autoencoder and NTM methods are effective and complementary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Multilingual embeddings demonstrate language-invariant features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Applications</a:t>
            </a:r>
            <a:r>
              <a:rPr dirty="0"/>
              <a:t>: Topic modeling, document clustering, semantic search, multilingual text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rPr dirty="0"/>
              <a:t>Summary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431"/>
            <a:ext cx="8229600" cy="491610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lang="en-US" b="1" dirty="0"/>
              <a:t>Pr</a:t>
            </a:r>
            <a:r>
              <a:rPr b="1" dirty="0"/>
              <a:t>oject Summary: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Successfully implemented deep topic representation for Swahili news articles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using autoencoders and neural topic modeling techniques.</a:t>
            </a:r>
          </a:p>
          <a:p>
            <a:pPr marL="0" indent="0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Key Results: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Successful 384→3D compression with preserved semantics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162 topics discovered with interpretable keywords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Clear topic clusters identified in latent space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Effective multilingual embedding capabilities demonstrated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Technologies: </a:t>
            </a:r>
            <a:r>
              <a:rPr dirty="0" err="1"/>
              <a:t>PyTorch</a:t>
            </a:r>
            <a:r>
              <a:rPr dirty="0"/>
              <a:t>, Sentence-BERT, </a:t>
            </a:r>
            <a:r>
              <a:rPr dirty="0" err="1"/>
              <a:t>BERTopic</a:t>
            </a:r>
            <a:r>
              <a:rPr dirty="0"/>
              <a:t>, PCA visualization</a:t>
            </a:r>
          </a:p>
          <a:p>
            <a:pPr marL="0" indent="0" algn="ctr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Questions &amp; Discussion</a:t>
            </a:r>
          </a:p>
          <a:p>
            <a:pPr marL="0" indent="0" algn="r">
              <a:spcAft>
                <a:spcPts val="1200"/>
              </a:spcAft>
              <a:buNone/>
              <a:defRPr sz="1600">
                <a:solidFill>
                  <a:srgbClr val="333333"/>
                </a:solidFill>
              </a:defRPr>
            </a:pPr>
            <a:r>
              <a:rPr b="1" dirty="0"/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1239</Words>
  <Application>Microsoft Office PowerPoint</Application>
  <PresentationFormat>On-screen Show (4:3)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Bookman Old Style</vt:lpstr>
      <vt:lpstr>Calibri</vt:lpstr>
      <vt:lpstr>Office Theme</vt:lpstr>
      <vt:lpstr>Deep Topic Representation</vt:lpstr>
      <vt:lpstr>Swahili News Articles Dataset</vt:lpstr>
      <vt:lpstr>Project Overview &amp; Objectives</vt:lpstr>
      <vt:lpstr>Dataset Overview</vt:lpstr>
      <vt:lpstr>2. Exploratory Data Analysis (EDA)</vt:lpstr>
      <vt:lpstr>PowerPoint Presentation</vt:lpstr>
      <vt:lpstr>PowerPoint Presentation</vt:lpstr>
      <vt:lpstr>3. Text Preprocessing</vt:lpstr>
      <vt:lpstr>4. Sentence Embedding Generation</vt:lpstr>
      <vt:lpstr>5. Deep Autoencoder Modeling</vt:lpstr>
      <vt:lpstr>Autoencoder Architecture</vt:lpstr>
      <vt:lpstr>PowerPoint Presentation</vt:lpstr>
      <vt:lpstr>PowerPoint Presentation</vt:lpstr>
      <vt:lpstr>Latent Space Analysis</vt:lpstr>
      <vt:lpstr>Experimental Variations</vt:lpstr>
      <vt:lpstr>PowerPoint Presentation</vt:lpstr>
      <vt:lpstr>PowerPoint Presentation</vt:lpstr>
      <vt:lpstr>PowerPoint Presentation</vt:lpstr>
      <vt:lpstr>7. Neural Topic Model (BERTopic)</vt:lpstr>
      <vt:lpstr>BERTopic Implementation &amp; Results</vt:lpstr>
      <vt:lpstr>8. Multilingual Analysis</vt:lpstr>
      <vt:lpstr>PowerPoint Presentation</vt:lpstr>
      <vt:lpstr>Multilingual Results &amp; Findings</vt:lpstr>
      <vt:lpstr>Key Achievements &amp; Technical Insights</vt:lpstr>
      <vt:lpstr>Summary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Topic Representation</dc:title>
  <dc:subject/>
  <dc:creator/>
  <cp:keywords/>
  <dc:description>generated using python-pptx</dc:description>
  <cp:lastModifiedBy>arineitwe thomas</cp:lastModifiedBy>
  <cp:revision>16</cp:revision>
  <dcterms:created xsi:type="dcterms:W3CDTF">2013-01-27T09:14:16Z</dcterms:created>
  <dcterms:modified xsi:type="dcterms:W3CDTF">2025-11-29T08:50:32Z</dcterms:modified>
  <cp:category/>
</cp:coreProperties>
</file>